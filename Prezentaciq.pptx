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0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485" y="2568102"/>
            <a:ext cx="6750996" cy="3581077"/>
          </a:xfrm>
        </p:spPr>
        <p:txBody>
          <a:bodyPr>
            <a:normAutofit/>
          </a:bodyPr>
          <a:lstStyle/>
          <a:p>
            <a:r>
              <a:rPr lang="ru-RU" sz="4400" dirty="0"/>
              <a:t>Разработка на система за интелигентно автомобилно огледало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Хардуер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STM32CubeIDE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Хардуер: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STM32G474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08563"/>
            <a:ext cx="5181600" cy="14844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Средата за разработка (The IDE)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Placeholder 5" descr="A book cover of a computer chip&#10;&#10;AI-generated content may be incorrect.">
            <a:extLst>
              <a:ext uri="{FF2B5EF4-FFF2-40B4-BE49-F238E27FC236}">
                <a16:creationId xmlns:a16="http://schemas.microsoft.com/office/drawing/2014/main" id="{B7CD1222-5009-0418-2734-381F0F47A7C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9402" b="9402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2154ED-5EBF-C1EB-1CCB-9E67F22EFD0F}"/>
              </a:ext>
            </a:extLst>
          </p:cNvPr>
          <p:cNvSpPr txBox="1"/>
          <p:nvPr/>
        </p:nvSpPr>
        <p:spPr>
          <a:xfrm>
            <a:off x="603115" y="3310116"/>
            <a:ext cx="58134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 на проекта</a:t>
            </a:r>
          </a:p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на странично огледало с 3 основни функции: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Ел. прибиране (Folding):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Автоматично сгъване на огледалото при паркиране.</a:t>
            </a:r>
          </a:p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Позиция с памет (Memory):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Запомняне на потребителските настройки (X/Y координати) и автоматично възстановяване.</a:t>
            </a:r>
          </a:p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Подгрев (Heating):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Включване на нагревател при натискане на бутон.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49030"/>
            <a:ext cx="5994184" cy="1529442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Системна конфигурация на проекта (.cproject)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Placeholder 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A0C8A3C-861A-12F6-33D7-87088E1CA82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2854" r="12854"/>
          <a:stretch>
            <a:fillRect/>
          </a:stretch>
        </p:blipFill>
        <p:spPr/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E30A95F-2C60-827B-85B7-9078EBE8A277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5212757" y="3037662"/>
            <a:ext cx="641916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Целеви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хардуер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Настроено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специфично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STM32G474RETx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(ARM Cortex-M4).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Оптимизация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(FPU):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Активиран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хардуерен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модул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плаваща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запетая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осигурява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бързи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прецизни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изчисления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позицията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огледалото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Библиотеки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Интеграция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драйвери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(Hardware Abstraction Layer)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управление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периферията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мотори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сензори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подгрев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режими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Конфигурирани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тестване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и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максимална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производителност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DFE6-458E-F718-D9A3-D37111C2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anchor="ctr">
            <a:normAutofit/>
          </a:bodyPr>
          <a:lstStyle/>
          <a:p>
            <a:r>
              <a:rPr lang="bg-BG" dirty="0"/>
              <a:t>Принцип на </a:t>
            </a:r>
            <a:r>
              <a:rPr lang="ru-RU" dirty="0"/>
              <a:t>LED</a:t>
            </a:r>
            <a:endParaRPr lang="en-US" dirty="0"/>
          </a:p>
        </p:txBody>
      </p:sp>
      <p:pic>
        <p:nvPicPr>
          <p:cNvPr id="5" name="Picture 2" descr="C:\Users\Nomad\Desktop\images.jpg">
            <a:extLst>
              <a:ext uri="{FF2B5EF4-FFF2-40B4-BE49-F238E27FC236}">
                <a16:creationId xmlns:a16="http://schemas.microsoft.com/office/drawing/2014/main" id="{3AC985F4-949B-5194-9585-B8693DC81E84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399" y="2234630"/>
            <a:ext cx="4992709" cy="332242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8E7A5-7252-20F0-3714-E85D04414FB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/>
          <a:p>
            <a:r>
              <a:rPr lang="ru-RU"/>
              <a:t>LED осветлението се контролира чрез PWM сигнал, генериран от таймер </a:t>
            </a:r>
            <a:r>
              <a:rPr lang="ru-RU" b="1"/>
              <a:t>TIM17</a:t>
            </a:r>
            <a:r>
              <a:rPr lang="ru-RU"/>
              <a:t>, като при натискане на бутона </a:t>
            </a:r>
            <a:r>
              <a:rPr lang="ru-RU" b="1"/>
              <a:t>SELECT</a:t>
            </a:r>
            <a:r>
              <a:rPr lang="ru-RU"/>
              <a:t> в регистъра </a:t>
            </a:r>
            <a:r>
              <a:rPr lang="ru-RU" b="1"/>
              <a:t>CCR1</a:t>
            </a:r>
            <a:r>
              <a:rPr lang="ru-RU"/>
              <a:t> се записва ненулева стойност за включване на светодиода, а при освобождаване на бутона се задава нулева стойност за неговото изключване.</a:t>
            </a:r>
            <a:endParaRPr lang="bg-BG"/>
          </a:p>
          <a:p>
            <a:endParaRPr lang="en-US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8010F353-6892-B74B-9E68-BE9ED808F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99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B83B-BFC7-BFB2-11F3-3249DF0C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LED OFF (бутон</a:t>
            </a:r>
            <a:r>
              <a:rPr lang="bg-BG" dirty="0"/>
              <a:t>а не</a:t>
            </a:r>
            <a:r>
              <a:rPr lang="ru-RU" dirty="0"/>
              <a:t> е натиснат)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A5352-E274-903E-0731-6ACEBB9FAC8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4" y="3278222"/>
            <a:ext cx="5585938" cy="3784060"/>
          </a:xfrm>
        </p:spPr>
        <p:txBody>
          <a:bodyPr>
            <a:normAutofit/>
          </a:bodyPr>
          <a:lstStyle/>
          <a:p>
            <a:endParaRPr lang="bg-BG" sz="1800" dirty="0"/>
          </a:p>
          <a:p>
            <a:endParaRPr lang="bg-BG" sz="1800" dirty="0"/>
          </a:p>
          <a:p>
            <a:endParaRPr lang="bg-BG" sz="1800" dirty="0"/>
          </a:p>
          <a:p>
            <a:endParaRPr lang="bg-BG" sz="1800" dirty="0"/>
          </a:p>
          <a:p>
            <a:endParaRPr lang="bg-BG" sz="1800" dirty="0"/>
          </a:p>
          <a:p>
            <a:r>
              <a:rPr lang="en-US" sz="1800" dirty="0"/>
              <a:t>LED </a:t>
            </a:r>
            <a:r>
              <a:rPr lang="bg-BG" sz="1800" dirty="0"/>
              <a:t>се управлява с </a:t>
            </a:r>
            <a:r>
              <a:rPr lang="en-US" sz="1800" dirty="0"/>
              <a:t>PWM (TIM17)</a:t>
            </a:r>
          </a:p>
          <a:p>
            <a:r>
              <a:rPr lang="en-US" sz="1800" dirty="0"/>
              <a:t>CCR1 = 2000 → LED ON</a:t>
            </a:r>
          </a:p>
          <a:p>
            <a:r>
              <a:rPr lang="en-US" sz="1800" dirty="0"/>
              <a:t>CCR1 = 0 → LED OFF</a:t>
            </a:r>
          </a:p>
          <a:p>
            <a:endParaRPr lang="bg-BG" sz="1800" dirty="0"/>
          </a:p>
          <a:p>
            <a:endParaRPr lang="en-US" sz="180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93E814-6102-C5BA-7D32-0583708FE2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09F828-D9BB-2C2C-1F0A-B41425BED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59" y="2688057"/>
            <a:ext cx="3945005" cy="149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4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71429-2F64-E2B3-A477-D9BB76C1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Команди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LED ON / OFF (</a:t>
            </a:r>
            <a:r>
              <a:rPr lang="en-US" dirty="0" err="1"/>
              <a:t>бутон</a:t>
            </a:r>
            <a:r>
              <a:rPr lang="en-US" dirty="0"/>
              <a:t> SELECT)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11B7EC-B2A9-DBFF-CCC6-27F44988DF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DEBE-666A-2FE8-2621-5FC78AB2B8E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3" y="2714018"/>
            <a:ext cx="4805997" cy="4066162"/>
          </a:xfrm>
        </p:spPr>
        <p:txBody>
          <a:bodyPr>
            <a:normAutofit/>
          </a:bodyPr>
          <a:lstStyle/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r>
              <a:rPr lang="en-US" dirty="0"/>
              <a:t>LED ON (</a:t>
            </a:r>
            <a:r>
              <a:rPr lang="bg-BG" dirty="0"/>
              <a:t>бутон натиснат)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DEC06-82F8-68C3-5186-78B58F3A8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2930"/>
            <a:ext cx="5036135" cy="219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07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C7B4-2237-34FC-4ECB-880AA63D6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Стартиране на </a:t>
            </a:r>
            <a:r>
              <a:rPr lang="en-US" dirty="0"/>
              <a:t>ADC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E69EED-0E02-6624-BEBD-3E19AB0B92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6799B-F4F4-96E5-F5F9-E8541CB74F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ru-RU" dirty="0"/>
              <a:t>Задейства ADC конверсия на hadc1.</a:t>
            </a:r>
            <a:endParaRPr lang="bg-BG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84823F-CD8F-2B5E-2944-BFD87D672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03" y="2164676"/>
            <a:ext cx="3389080" cy="320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00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4D110-1D0B-96B2-0E57-A6D641B80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0" y="1310640"/>
            <a:ext cx="4805997" cy="2118360"/>
          </a:xfrm>
        </p:spPr>
        <p:txBody>
          <a:bodyPr>
            <a:noAutofit/>
          </a:bodyPr>
          <a:lstStyle/>
          <a:p>
            <a:r>
              <a:rPr lang="ru-RU" sz="3200" dirty="0"/>
              <a:t>Прочитане на резултатите от два канала.</a:t>
            </a:r>
            <a:br>
              <a:rPr lang="ru-RU" sz="3200" dirty="0"/>
            </a:br>
            <a:r>
              <a:rPr lang="ru-RU" sz="3200" dirty="0"/>
              <a:t>Преобразуване в mV</a:t>
            </a:r>
            <a:endParaRPr lang="en-US" sz="32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B1375E-2A88-793F-0A3F-329B1058B2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FD1BA-1B19-8E26-C2E3-3968ABAFC8A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3" y="3667328"/>
            <a:ext cx="4805997" cy="2895398"/>
          </a:xfrm>
        </p:spPr>
        <p:txBody>
          <a:bodyPr>
            <a:normAutofit fontScale="92500" lnSpcReduction="20000"/>
          </a:bodyPr>
          <a:lstStyle/>
          <a:p>
            <a:r>
              <a:rPr lang="bg-BG" dirty="0"/>
              <a:t>Изчавка </a:t>
            </a:r>
            <a:r>
              <a:rPr lang="en-US" dirty="0"/>
              <a:t>ADC </a:t>
            </a:r>
            <a:r>
              <a:rPr lang="bg-BG" dirty="0"/>
              <a:t>да приключи измерването (</a:t>
            </a:r>
            <a:r>
              <a:rPr lang="bg-BG" noProof="1"/>
              <a:t>PollForConversion</a:t>
            </a:r>
            <a:r>
              <a:rPr lang="en-US" dirty="0"/>
              <a:t>)</a:t>
            </a:r>
            <a:endParaRPr lang="bg-BG" dirty="0"/>
          </a:p>
          <a:p>
            <a:r>
              <a:rPr lang="bg-BG" dirty="0"/>
              <a:t>Взима суровата стойност (</a:t>
            </a:r>
            <a:r>
              <a:rPr lang="en-US" dirty="0" err="1"/>
              <a:t>HAL_ADC_GetValue</a:t>
            </a:r>
            <a:r>
              <a:rPr lang="en-US" dirty="0"/>
              <a:t>) → </a:t>
            </a:r>
            <a:r>
              <a:rPr lang="bg-BG" dirty="0"/>
              <a:t>записва в </a:t>
            </a:r>
            <a:r>
              <a:rPr lang="en-US" dirty="0" err="1"/>
              <a:t>adc_raw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  <a:endParaRPr lang="bg-BG" dirty="0"/>
          </a:p>
          <a:p>
            <a:r>
              <a:rPr lang="bg-BG" dirty="0"/>
              <a:t>Преобразува суровата стойност в </a:t>
            </a:r>
            <a:r>
              <a:rPr lang="en-US" dirty="0"/>
              <a:t>mV → </a:t>
            </a:r>
            <a:r>
              <a:rPr lang="bg-BG" dirty="0"/>
              <a:t>записва в </a:t>
            </a:r>
            <a:r>
              <a:rPr lang="en-US" dirty="0" err="1"/>
              <a:t>adc_mv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  <a:endParaRPr lang="bg-BG" dirty="0"/>
          </a:p>
          <a:p>
            <a:r>
              <a:rPr lang="bg-BG" dirty="0"/>
              <a:t>Стартира следващата конверсия (</a:t>
            </a:r>
            <a:r>
              <a:rPr lang="en-US" dirty="0" err="1"/>
              <a:t>StartADC</a:t>
            </a:r>
            <a:r>
              <a:rPr lang="en-US" dirty="0"/>
              <a:t>())</a:t>
            </a:r>
            <a:endParaRPr lang="bg-BG" dirty="0"/>
          </a:p>
          <a:p>
            <a:r>
              <a:rPr lang="bg-BG" dirty="0"/>
              <a:t>Повтаря това 2 пъти, за да получи </a:t>
            </a:r>
            <a:r>
              <a:rPr lang="en-US" dirty="0" err="1"/>
              <a:t>adc_mv</a:t>
            </a:r>
            <a:r>
              <a:rPr lang="en-US" dirty="0"/>
              <a:t>[0] </a:t>
            </a:r>
            <a:r>
              <a:rPr lang="bg-BG" dirty="0"/>
              <a:t>и </a:t>
            </a:r>
            <a:r>
              <a:rPr lang="en-US" dirty="0" err="1"/>
              <a:t>adc_mv</a:t>
            </a:r>
            <a:r>
              <a:rPr lang="en-US" dirty="0"/>
              <a:t>[1]</a:t>
            </a:r>
            <a:endParaRPr lang="bg-BG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7E1C1-CDF5-202B-A342-98FA6DD17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3" y="1494092"/>
            <a:ext cx="5703326" cy="386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19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2019-EC86-7C81-2AD1-62E17F73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573" y="583659"/>
            <a:ext cx="4805997" cy="1831000"/>
          </a:xfrm>
        </p:spPr>
        <p:txBody>
          <a:bodyPr/>
          <a:lstStyle/>
          <a:p>
            <a:r>
              <a:rPr lang="en-US" dirty="0"/>
              <a:t>#Define </a:t>
            </a:r>
            <a:r>
              <a:rPr lang="bg-BG" dirty="0"/>
              <a:t>стойности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1C8F38-6AD8-AD9B-5B3A-2A15A36B12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683CB-2439-B004-9217-7D1E16DFF3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75967" y="2820845"/>
            <a:ext cx="5449752" cy="3375674"/>
          </a:xfrm>
        </p:spPr>
        <p:txBody>
          <a:bodyPr>
            <a:normAutofit/>
          </a:bodyPr>
          <a:lstStyle/>
          <a:p>
            <a:r>
              <a:rPr lang="ru-RU" dirty="0"/>
              <a:t>В програмния код са зададени константи за референтното напрежение на ADC, желаните позиции на огледалото по двете оси, както и стойност на хистерезис, които гарантират прецизно и устойчиво позициониране. Референтното напрежение на ADC е 3.3 V (3300 mV), дефинирани са референтни положения на огледалото по осите ляво/дясно и горе/долу, а хистерезисът (толерансът) е ±20 mV</a:t>
            </a:r>
            <a:r>
              <a:rPr lang="ru-RU" sz="2400" dirty="0"/>
              <a:t>.</a:t>
            </a:r>
            <a:endParaRPr lang="bg-BG" sz="24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CD0C10-07FE-D553-5A6D-CBB9CBBA5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3" y="1841842"/>
            <a:ext cx="3960878" cy="346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3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Владимир Семержиев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Благовест Рангелов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Стефан Георгиев</a:t>
            </a:r>
          </a:p>
          <a:p>
            <a:r>
              <a:rPr 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Алекс Георгиев 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ФЕТТ АЕ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vsemerdzhiev@tu-sofia.bg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Ф-н 941222074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{D5085A2F-82EB-425A-9480-F2F9F7C631E2}TF44172dc5-d19e-4d2a-aaf3-e2c69a283fd81f4275d0_win32-950e754c5494</Template>
  <TotalTime>28</TotalTime>
  <Words>435</Words>
  <Application>Microsoft Office PowerPoint</Application>
  <PresentationFormat>Widescreen</PresentationFormat>
  <Paragraphs>61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Tenorite</vt:lpstr>
      <vt:lpstr>Times New Roman</vt:lpstr>
      <vt:lpstr>Custom</vt:lpstr>
      <vt:lpstr>Разработка на система за интелигентно автомобилно огледало</vt:lpstr>
      <vt:lpstr>Хардуер</vt:lpstr>
      <vt:lpstr>Средата за разработка (The IDE)</vt:lpstr>
      <vt:lpstr>Системна конфигурация на проекта (.cproject)</vt:lpstr>
      <vt:lpstr>Принцип на LED</vt:lpstr>
      <vt:lpstr>LED OFF (бутона не е натиснат)</vt:lpstr>
      <vt:lpstr>Команди за LED ON / OFF (бутон SELECT)</vt:lpstr>
      <vt:lpstr>Стартиране на ADC</vt:lpstr>
      <vt:lpstr>Прочитане на резултатите от два канала. Преобразуване в mV</vt:lpstr>
      <vt:lpstr>#Define стойности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Vladimir Semerdzhiev</dc:creator>
  <cp:lastModifiedBy>Vladimir Semerdzhiev</cp:lastModifiedBy>
  <cp:revision>4</cp:revision>
  <dcterms:created xsi:type="dcterms:W3CDTF">2025-12-16T10:31:29Z</dcterms:created>
  <dcterms:modified xsi:type="dcterms:W3CDTF">2025-12-16T15:43:52Z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